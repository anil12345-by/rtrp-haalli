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5" r:id="rId4"/>
    <p:sldId id="26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7" r:id="rId33"/>
    <p:sldId id="296" r:id="rId34"/>
    <p:sldId id="264" r:id="rId35"/>
    <p:sldId id="258" r:id="rId36"/>
    <p:sldId id="298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359" y="956154"/>
            <a:ext cx="7418539" cy="1752600"/>
          </a:xfrm>
        </p:spPr>
        <p:txBody>
          <a:bodyPr>
            <a:normAutofit fontScale="70000" lnSpcReduction="20000"/>
          </a:bodyPr>
          <a:lstStyle/>
          <a:p>
            <a:r>
              <a:rPr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Multi-Agent </a:t>
            </a:r>
            <a:r>
              <a:rPr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Framework for Hallucination </a:t>
            </a:r>
            <a:r>
              <a:rPr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Mitigation 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Large </a:t>
            </a:r>
            <a:r>
              <a:rPr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Language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65296"/>
            <a:ext cx="7772400" cy="52509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84592"/>
            <a:ext cx="7772400" cy="3075924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Large Language Models (LLMs) have revolutionized natural language processing, but they often generate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hallucinations responses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that are factually incorrect, fabricated, or unsupported by reliable evidence. Such inaccuracies reduce the trustworthiness of AI systems, especially in critical domains such as healthcare, 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finance, and law. Existing approaches like prompt engineering and conventional Retrieval-Augmented Generation (RAG) improve performance but lack comprehensive mechanisms for confidence estimation, evidence-based verification, automated correction, and continual learning. Therefore, there is a need for an intelligent framework that can detect, verify, correct, and prevent hallucinations while providing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accurate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and trustworthy AI responses.</a:t>
            </a:r>
            <a:endParaRPr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2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305" y="1887429"/>
            <a:ext cx="3457183" cy="413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493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559474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Detector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 hallucination risk.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query":"What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is the latest treatment for diabetes?",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generated_response":"XYZ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drug completely cures diabetes.",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"model":"Llama-3-8B"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Internal Processing</a:t>
            </a:r>
            <a:endParaRPr lang="en-US" sz="1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Token Probability </a:t>
            </a:r>
          </a:p>
          <a:p>
            <a:pPr lvl="0"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Entropy </a:t>
            </a:r>
          </a:p>
          <a:p>
            <a:pPr lvl="0"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Semantic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Similarity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Self Consistency </a:t>
            </a:r>
          </a:p>
          <a:p>
            <a:pPr algn="l"/>
            <a:endParaRPr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22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3582443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Detector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 hallucination risk.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"confidence_score":0.62,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risk_level":"Moderate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"hallucination_probability":0.38,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next_action":"Verify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l"/>
            <a:endParaRPr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0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3582443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Verifier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Retrieve evidence from external sources.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claim":"XYZ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drug completely cures diabetes",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"confidence_score":0.62,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domain":"Healthcare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1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3582443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Verifier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Retrieve evidence from external sources.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RAG </a:t>
            </a:r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Retrieval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Knowledge Sources: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Healthcare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PubMed </a:t>
            </a:r>
          </a:p>
          <a:p>
            <a:pPr algn="l"/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Cybersecurity</a:t>
            </a:r>
            <a:endParaRPr 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MITRE ATT&amp;CK 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CVE 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Finance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SEC EDGAR 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Legal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Government Acts </a:t>
            </a:r>
            <a:endParaRPr 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69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3582443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Verifier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Retrieve evidence from external sources.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"evidence":[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{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"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source":"PubMed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"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text":"No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drug completely cures diabetes"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}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],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"support_score":0.12,</a:t>
            </a:r>
            <a:b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"contradiction_score":0.88</a:t>
            </a:r>
            <a:endParaRPr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7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3582443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Judge Agent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Final decision maker.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response":"XYZ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drug completely cures diabetes",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"support_score":0.12,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"contradiction_score":0.88,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evidence":"PubMed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evidence"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37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3582443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Judge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Final decision maker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fr-FR" sz="1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fr-FR" sz="1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fr-F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Logic</a:t>
            </a:r>
            <a:endParaRPr lang="fr-F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fr-FR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Contradiction </a:t>
            </a:r>
            <a:r>
              <a:rPr lang="fr-FR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Detection</a:t>
            </a:r>
            <a:r>
              <a:rPr lang="fr-FR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fr-FR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fr-FR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Confidence </a:t>
            </a:r>
            <a:r>
              <a:rPr lang="fr-FR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Routing</a:t>
            </a:r>
            <a:r>
              <a:rPr lang="fr-FR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decision":"Hallucinated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severity":"High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reason":"Medical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evidence contradicts generated claim",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action":"Correct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90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100"/>
            <a:ext cx="7772400" cy="1188972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377864"/>
            <a:ext cx="7831898" cy="439663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Corrector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Generate corrected answer.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original_response":"XYZ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drug completely cures diabetes",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judge_decision":"Hallucinated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evidence":"No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complete cure exists"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Processing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Prompt Repair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Evidence Grounding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Response Regeneration </a:t>
            </a:r>
          </a:p>
        </p:txBody>
      </p:sp>
    </p:spTree>
    <p:extLst>
      <p:ext uri="{BB962C8B-B14F-4D97-AF65-F5344CB8AC3E}">
        <p14:creationId xmlns:p14="http://schemas.microsoft.com/office/powerpoint/2010/main" val="23539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133589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Corrector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Generate corrected answer.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corrected_response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":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"Currently there is no complete cure for diabetes. Several treatments help manage blood glucose levels effectively.",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correction_type":"Factual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Correction“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80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 Memory Agent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Purpose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Store hallucination history.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hallucination_type":"Factual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domain":"Healthcare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original_claim":"XYZ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drug completely cures diabetes",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corrected_claim":"No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complete cure exists"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stored":true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"knowledge_graph_id":"HG_1023",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"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future_prevention":"Enabled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7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Base LLM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Recommended</a:t>
            </a:r>
            <a:endParaRPr lang="en-US" sz="1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Llama-3.1-8B-Instruct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Why?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Open source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Strong reasoning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Easy to fine-tune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Suitable for academic research </a:t>
            </a: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Alternative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Qwen-3-8B </a:t>
            </a:r>
          </a:p>
          <a:p>
            <a:pPr lvl="0"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Mistral-7B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70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 hallucination probability</a:t>
            </a: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Technologies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Confidence Score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Hallucination Score 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546" y="3405101"/>
            <a:ext cx="3974666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69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fr-FR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Verifier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Agent</a:t>
            </a:r>
          </a:p>
          <a:p>
            <a:pPr algn="l"/>
            <a:r>
              <a:rPr lang="fr-F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  <a:endParaRPr lang="fr-F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fr-FR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Evidence </a:t>
            </a:r>
            <a:r>
              <a:rPr lang="fr-FR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retrieval</a:t>
            </a:r>
            <a:r>
              <a:rPr lang="fr-FR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fr-F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Technologies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91" y="3540693"/>
            <a:ext cx="3487847" cy="2729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8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fr-FR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Verifier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Agent</a:t>
            </a:r>
          </a:p>
          <a:p>
            <a:pPr algn="l"/>
            <a:r>
              <a:rPr lang="fr-F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  <a:endParaRPr lang="fr-F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fr-FR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Evidence </a:t>
            </a:r>
            <a:r>
              <a:rPr lang="fr-FR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retrieval</a:t>
            </a:r>
            <a:r>
              <a:rPr lang="fr-FR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Knowledge Sources: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Healthcare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PubMed </a:t>
            </a:r>
          </a:p>
          <a:p>
            <a:pPr algn="l"/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Cybersecurity</a:t>
            </a:r>
            <a:endParaRPr 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MITRE ATT&amp;CK </a:t>
            </a:r>
          </a:p>
          <a:p>
            <a:pPr algn="l"/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Finance</a:t>
            </a:r>
            <a:endParaRPr 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SEC EDGAR 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Legal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Government Acts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78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Judge Agent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Decision making.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Technologies</a:t>
            </a: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LLM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Qwen3-8B (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open source)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Accept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Verify Again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Correct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Reject 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4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Corrector Agent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Generate corrected answer.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Technologies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LLM: Llama-3.1-8B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02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Memory Agent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</a:p>
          <a:p>
            <a:pPr algn="l"/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Store hallucination history.</a:t>
            </a:r>
          </a:p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Technologies</a:t>
            </a:r>
          </a:p>
          <a:p>
            <a:pPr algn="l"/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419" y="3141663"/>
            <a:ext cx="3983277" cy="1405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5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Detector Agent does 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not rely on a single metric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Instead, it combines 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multiple confidence indicators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from the LLM.</a:t>
            </a: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four major indicators are: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Token Probability 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Entropy 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Semantic Similarity 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Self Consistency 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These are combined using a weighted scoring function.</a:t>
            </a:r>
          </a:p>
          <a:p>
            <a:pPr algn="l"/>
            <a:endParaRPr lang="en-US" sz="1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89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Token Probability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When the LLM generates every token, it also outputs a probability.</a:t>
            </a:r>
          </a:p>
          <a:p>
            <a:pPr algn="l"/>
            <a:r>
              <a:rPr lang="en-US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Query: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What is the capital of France?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LLM predicts</a:t>
            </a:r>
          </a:p>
          <a:p>
            <a:pPr algn="l"/>
            <a:endParaRPr lang="en-US" sz="1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443" y="4191435"/>
            <a:ext cx="4648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590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Token Probability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When the LLM generates every token, it also outputs a probability.</a:t>
            </a:r>
          </a:p>
          <a:p>
            <a:pPr algn="l"/>
            <a:r>
              <a:rPr lang="en-US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Query: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What is the capital of France?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LLM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predicts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Average probability</a:t>
            </a:r>
          </a:p>
          <a:p>
            <a:pPr algn="l"/>
            <a:endParaRPr lang="en-US" sz="1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Higher probability means higher confidence.</a:t>
            </a:r>
            <a:endParaRPr lang="en-US" sz="1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543" y="3139249"/>
            <a:ext cx="4648200" cy="178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790" y="4916379"/>
            <a:ext cx="11906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4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2: Entropy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Entropy measures uncertainty.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</a:t>
            </a:r>
          </a:p>
          <a:p>
            <a:pPr algn="l"/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Prediction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Paris = 0.95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London = 0.03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Berlin = 0.02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Entropy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Very Low</a:t>
            </a:r>
          </a:p>
          <a:p>
            <a:pPr algn="l"/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2981195"/>
            <a:ext cx="2327884" cy="100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056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2: Entropy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Now suppose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Paris = 0.35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London = 0.33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Berlin = 0.32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Entropy becomes high.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High entropy means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model is confused.</a:t>
            </a: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Normalize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entropy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Range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 to 1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Higher value = better confidence</a:t>
            </a:r>
          </a:p>
          <a:p>
            <a:pPr algn="l"/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76" y="4559474"/>
            <a:ext cx="2699032" cy="1071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685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3: Semantic Similarity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generated answer is converted into an embedding.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retrieved evidence is also converted into 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embeddings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SentenceTransformer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computes cosine similarity.</a:t>
            </a: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320" y="3557826"/>
            <a:ext cx="1981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052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3: Semantic Similarity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Generated Answer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"Diabetes can be cured permanently."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Retrieved evidence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"There is currently no complete cure for diabetes."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Cosine similarity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0.18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Very low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Detector confidence decreases.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 similarity is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0.95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Confidence 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increas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91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4: Self Consistency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same question is generated multiple times.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LLM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 times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1: 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 : 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 : 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 : 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 : 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Consistency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100%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56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4: Self Consistency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same question is generated multiple times.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Now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 :Paris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 : London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 : Berlin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 : Paris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 : Rome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Consistency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40%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Confidence decreases.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5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4: Self Consistency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same question is generated multiple times.</a:t>
            </a: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3208338"/>
            <a:ext cx="29718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974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Detector Agent Confidence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Score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Final Confidence Score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Combine all scores using weighted averaging.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weights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8" y="3098017"/>
            <a:ext cx="48482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30" y="5887798"/>
            <a:ext cx="7190222" cy="52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523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Hallucination Score</a:t>
            </a:r>
          </a:p>
          <a:p>
            <a:pPr algn="l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hallucination score can be computed as:</a:t>
            </a: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Rules</a:t>
            </a:r>
            <a:endParaRPr lang="en-US" sz="18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386" y="2708666"/>
            <a:ext cx="3876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974" y="3964075"/>
            <a:ext cx="6554787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03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019" y="289099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HalluciGuard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Multi-Agent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Communication Architecture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2" y="1640910"/>
            <a:ext cx="7831898" cy="4772416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metric captures a different aspect of model confidence. </a:t>
            </a:r>
            <a:endParaRPr lang="en-US" sz="1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Token 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probability reflects prediction certainty, entropy measures uncertainty, semantic similarity checks agreement with trusted knowledge, and self-consistency evaluates output stability across multiple generations</a:t>
            </a: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weighted average combines these complementary signals into a robust confidence score, making the detector more reliable than relying on any single metric</a:t>
            </a: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40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9661" y="2708754"/>
            <a:ext cx="7418539" cy="1752600"/>
          </a:xfrm>
        </p:spPr>
        <p:txBody>
          <a:bodyPr>
            <a:normAutofit/>
          </a:bodyPr>
          <a:lstStyle/>
          <a:p>
            <a:endParaRPr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3200" y="-1238076"/>
            <a:ext cx="14630400" cy="975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58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Dataset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Dataset:</a:t>
            </a: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HaluEval</a:t>
            </a: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Typical attributes:</a:t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Question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Answering</a:t>
            </a: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Dialogue</a:t>
            </a: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Genera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 Text</a:t>
            </a: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Text Summarization</a:t>
            </a: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Hallucination Label, Domain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Dataset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Dataset:</a:t>
            </a: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HaluEval</a:t>
            </a: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Typical attributes:</a:t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Question, Context, Generated Response,</a:t>
            </a:r>
            <a:b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Ground Truth, Hallucination Label, Domain</a:t>
            </a:r>
          </a:p>
        </p:txBody>
      </p:sp>
    </p:spTree>
    <p:extLst>
      <p:ext uri="{BB962C8B-B14F-4D97-AF65-F5344CB8AC3E}">
        <p14:creationId xmlns:p14="http://schemas.microsoft.com/office/powerpoint/2010/main" val="428451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955</Words>
  <Application>Microsoft Office PowerPoint</Application>
  <PresentationFormat>On-screen Show (4:3)</PresentationFormat>
  <Paragraphs>323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PROBLEM STATEMENT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HalluciGuard: Multi-Agent Communication Architecture</vt:lpstr>
      <vt:lpstr>PowerPoint Presentation</vt:lpstr>
      <vt:lpstr>Dataset </vt:lpstr>
      <vt:lpstr>Dataset 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Explanation of Existing Paper</dc:title>
  <dc:creator>HP</dc:creator>
  <dc:description>generated using python-pptx</dc:description>
  <cp:lastModifiedBy>HP</cp:lastModifiedBy>
  <cp:revision>34</cp:revision>
  <dcterms:created xsi:type="dcterms:W3CDTF">2013-01-27T09:14:16Z</dcterms:created>
  <dcterms:modified xsi:type="dcterms:W3CDTF">2026-07-14T06:49:29Z</dcterms:modified>
</cp:coreProperties>
</file>